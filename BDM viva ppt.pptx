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A4FA26-865A-465F-8E9A-8A90662189AE}" v="396" dt="2026-04-18T07:19:24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rikta Malik" userId="70451504e3b0265a" providerId="LiveId" clId="{D7D3D390-A727-4E19-A37A-E3FBE0FEA5FB}"/>
    <pc:docChg chg="undo custSel modSld modMainMaster">
      <pc:chgData name="Samprikta Malik" userId="70451504e3b0265a" providerId="LiveId" clId="{D7D3D390-A727-4E19-A37A-E3FBE0FEA5FB}" dt="2026-04-18T07:19:24.167" v="575" actId="20577"/>
      <pc:docMkLst>
        <pc:docMk/>
      </pc:docMkLst>
      <pc:sldChg chg="modSp mod modTransition addAnim delAnim modAnim">
        <pc:chgData name="Samprikta Malik" userId="70451504e3b0265a" providerId="LiveId" clId="{D7D3D390-A727-4E19-A37A-E3FBE0FEA5FB}" dt="2026-04-17T06:30:57.849" v="531" actId="1076"/>
        <pc:sldMkLst>
          <pc:docMk/>
          <pc:sldMk cId="840896585" sldId="257"/>
        </pc:sldMkLst>
        <pc:picChg chg="mod">
          <ac:chgData name="Samprikta Malik" userId="70451504e3b0265a" providerId="LiveId" clId="{D7D3D390-A727-4E19-A37A-E3FBE0FEA5FB}" dt="2026-04-17T06:30:57.849" v="531" actId="1076"/>
          <ac:picMkLst>
            <pc:docMk/>
            <pc:sldMk cId="840896585" sldId="257"/>
            <ac:picMk id="8" creationId="{37158A2A-C08D-A9CE-F07A-7A73A0E5BA2A}"/>
          </ac:picMkLst>
        </pc:picChg>
      </pc:sldChg>
      <pc:sldChg chg="modTransition addAnim delAnim modAnim">
        <pc:chgData name="Samprikta Malik" userId="70451504e3b0265a" providerId="LiveId" clId="{D7D3D390-A727-4E19-A37A-E3FBE0FEA5FB}" dt="2026-04-17T05:24:52.082" v="526"/>
        <pc:sldMkLst>
          <pc:docMk/>
          <pc:sldMk cId="340256652" sldId="259"/>
        </pc:sldMkLst>
      </pc:sldChg>
      <pc:sldChg chg="modSp mod modTransition addAnim delAnim modAnim">
        <pc:chgData name="Samprikta Malik" userId="70451504e3b0265a" providerId="LiveId" clId="{D7D3D390-A727-4E19-A37A-E3FBE0FEA5FB}" dt="2026-04-08T15:39:57.176" v="414" actId="20577"/>
        <pc:sldMkLst>
          <pc:docMk/>
          <pc:sldMk cId="25974995" sldId="260"/>
        </pc:sldMkLst>
        <pc:spChg chg="mod">
          <ac:chgData name="Samprikta Malik" userId="70451504e3b0265a" providerId="LiveId" clId="{D7D3D390-A727-4E19-A37A-E3FBE0FEA5FB}" dt="2026-04-08T15:09:16.504" v="335" actId="1076"/>
          <ac:spMkLst>
            <pc:docMk/>
            <pc:sldMk cId="25974995" sldId="260"/>
            <ac:spMk id="6" creationId="{69028AF5-CE6C-FF49-6AC8-CC3602F90F48}"/>
          </ac:spMkLst>
        </pc:spChg>
        <pc:spChg chg="mod">
          <ac:chgData name="Samprikta Malik" userId="70451504e3b0265a" providerId="LiveId" clId="{D7D3D390-A727-4E19-A37A-E3FBE0FEA5FB}" dt="2026-04-08T15:12:04.976" v="343" actId="1076"/>
          <ac:spMkLst>
            <pc:docMk/>
            <pc:sldMk cId="25974995" sldId="260"/>
            <ac:spMk id="7" creationId="{CE5B2C5F-5DFF-2F15-1D40-F0437B3CD8D4}"/>
          </ac:spMkLst>
        </pc:spChg>
        <pc:spChg chg="mod">
          <ac:chgData name="Samprikta Malik" userId="70451504e3b0265a" providerId="LiveId" clId="{D7D3D390-A727-4E19-A37A-E3FBE0FEA5FB}" dt="2026-04-08T15:39:57.176" v="414" actId="20577"/>
          <ac:spMkLst>
            <pc:docMk/>
            <pc:sldMk cId="25974995" sldId="260"/>
            <ac:spMk id="9" creationId="{89BEBF0C-B059-4377-AA61-C500BA6B9D6D}"/>
          </ac:spMkLst>
        </pc:spChg>
      </pc:sldChg>
      <pc:sldChg chg="addSp modSp mod modTransition addAnim delAnim modAnim">
        <pc:chgData name="Samprikta Malik" userId="70451504e3b0265a" providerId="LiveId" clId="{D7D3D390-A727-4E19-A37A-E3FBE0FEA5FB}" dt="2026-04-18T04:16:08.741" v="547"/>
        <pc:sldMkLst>
          <pc:docMk/>
          <pc:sldMk cId="4235569453" sldId="261"/>
        </pc:sldMkLst>
        <pc:spChg chg="add mod">
          <ac:chgData name="Samprikta Malik" userId="70451504e3b0265a" providerId="LiveId" clId="{D7D3D390-A727-4E19-A37A-E3FBE0FEA5FB}" dt="2026-04-08T15:29:00.129" v="375" actId="1076"/>
          <ac:spMkLst>
            <pc:docMk/>
            <pc:sldMk cId="4235569453" sldId="261"/>
            <ac:spMk id="4" creationId="{055F4EAC-058A-F52C-76EB-81C1A792A988}"/>
          </ac:spMkLst>
        </pc:spChg>
        <pc:spChg chg="mod">
          <ac:chgData name="Samprikta Malik" userId="70451504e3b0265a" providerId="LiveId" clId="{D7D3D390-A727-4E19-A37A-E3FBE0FEA5FB}" dt="2026-04-18T04:15:19.320" v="544" actId="1076"/>
          <ac:spMkLst>
            <pc:docMk/>
            <pc:sldMk cId="4235569453" sldId="261"/>
            <ac:spMk id="6" creationId="{183AEB41-874B-D105-61E7-1CAD52BDC145}"/>
          </ac:spMkLst>
        </pc:spChg>
        <pc:spChg chg="add mod">
          <ac:chgData name="Samprikta Malik" userId="70451504e3b0265a" providerId="LiveId" clId="{D7D3D390-A727-4E19-A37A-E3FBE0FEA5FB}" dt="2026-04-18T04:15:28.192" v="545" actId="113"/>
          <ac:spMkLst>
            <pc:docMk/>
            <pc:sldMk cId="4235569453" sldId="261"/>
            <ac:spMk id="8" creationId="{C9771799-C678-466E-A23C-4E6C00E37964}"/>
          </ac:spMkLst>
        </pc:spChg>
      </pc:sldChg>
      <pc:sldChg chg="addSp modSp mod modTransition addAnim delAnim modAnim">
        <pc:chgData name="Samprikta Malik" userId="70451504e3b0265a" providerId="LiveId" clId="{D7D3D390-A727-4E19-A37A-E3FBE0FEA5FB}" dt="2026-04-08T15:29:25.626" v="379" actId="1076"/>
        <pc:sldMkLst>
          <pc:docMk/>
          <pc:sldMk cId="889371949" sldId="262"/>
        </pc:sldMkLst>
        <pc:spChg chg="add mod">
          <ac:chgData name="Samprikta Malik" userId="70451504e3b0265a" providerId="LiveId" clId="{D7D3D390-A727-4E19-A37A-E3FBE0FEA5FB}" dt="2026-04-08T15:29:21.106" v="378" actId="1076"/>
          <ac:spMkLst>
            <pc:docMk/>
            <pc:sldMk cId="889371949" sldId="262"/>
            <ac:spMk id="4" creationId="{32AE7DB7-74B8-92DE-CB3E-31E416CF77A5}"/>
          </ac:spMkLst>
        </pc:spChg>
        <pc:spChg chg="mod">
          <ac:chgData name="Samprikta Malik" userId="70451504e3b0265a" providerId="LiveId" clId="{D7D3D390-A727-4E19-A37A-E3FBE0FEA5FB}" dt="2026-04-08T15:29:25.626" v="379" actId="1076"/>
          <ac:spMkLst>
            <pc:docMk/>
            <pc:sldMk cId="889371949" sldId="262"/>
            <ac:spMk id="9" creationId="{BFCFE019-DB37-0A0A-C361-4740E18F1F6E}"/>
          </ac:spMkLst>
        </pc:spChg>
      </pc:sldChg>
      <pc:sldChg chg="addSp modSp mod modTransition addAnim delAnim modAnim">
        <pc:chgData name="Samprikta Malik" userId="70451504e3b0265a" providerId="LiveId" clId="{D7D3D390-A727-4E19-A37A-E3FBE0FEA5FB}" dt="2026-04-08T15:30:38.760" v="387"/>
        <pc:sldMkLst>
          <pc:docMk/>
          <pc:sldMk cId="1465460398" sldId="263"/>
        </pc:sldMkLst>
        <pc:spChg chg="add mod">
          <ac:chgData name="Samprikta Malik" userId="70451504e3b0265a" providerId="LiveId" clId="{D7D3D390-A727-4E19-A37A-E3FBE0FEA5FB}" dt="2026-04-08T15:30:07.636" v="386" actId="1076"/>
          <ac:spMkLst>
            <pc:docMk/>
            <pc:sldMk cId="1465460398" sldId="263"/>
            <ac:spMk id="4" creationId="{D0F69053-1596-4522-6990-1DCEFDB90010}"/>
          </ac:spMkLst>
        </pc:spChg>
        <pc:spChg chg="mod">
          <ac:chgData name="Samprikta Malik" userId="70451504e3b0265a" providerId="LiveId" clId="{D7D3D390-A727-4E19-A37A-E3FBE0FEA5FB}" dt="2026-04-08T15:24:22.163" v="371" actId="1076"/>
          <ac:spMkLst>
            <pc:docMk/>
            <pc:sldMk cId="1465460398" sldId="263"/>
            <ac:spMk id="5" creationId="{D2841B2D-B239-54CE-4700-13C0C7A9F9C1}"/>
          </ac:spMkLst>
        </pc:spChg>
        <pc:spChg chg="mod">
          <ac:chgData name="Samprikta Malik" userId="70451504e3b0265a" providerId="LiveId" clId="{D7D3D390-A727-4E19-A37A-E3FBE0FEA5FB}" dt="2026-04-08T15:24:11.643" v="369" actId="1076"/>
          <ac:spMkLst>
            <pc:docMk/>
            <pc:sldMk cId="1465460398" sldId="263"/>
            <ac:spMk id="8" creationId="{D2E93E19-241B-9349-7C49-4D08B9D80CC1}"/>
          </ac:spMkLst>
        </pc:spChg>
        <pc:spChg chg="mod">
          <ac:chgData name="Samprikta Malik" userId="70451504e3b0265a" providerId="LiveId" clId="{D7D3D390-A727-4E19-A37A-E3FBE0FEA5FB}" dt="2026-04-08T15:24:33.362" v="372" actId="1076"/>
          <ac:spMkLst>
            <pc:docMk/>
            <pc:sldMk cId="1465460398" sldId="263"/>
            <ac:spMk id="10" creationId="{E4197248-93D4-8839-24CD-5C4E3A2D5D1D}"/>
          </ac:spMkLst>
        </pc:spChg>
        <pc:spChg chg="mod">
          <ac:chgData name="Samprikta Malik" userId="70451504e3b0265a" providerId="LiveId" clId="{D7D3D390-A727-4E19-A37A-E3FBE0FEA5FB}" dt="2026-04-08T15:29:57.547" v="385" actId="1076"/>
          <ac:spMkLst>
            <pc:docMk/>
            <pc:sldMk cId="1465460398" sldId="263"/>
            <ac:spMk id="11" creationId="{63E5FF56-9B7D-B46C-4B53-E7EFB64760E5}"/>
          </ac:spMkLst>
        </pc:spChg>
        <pc:graphicFrameChg chg="mod">
          <ac:chgData name="Samprikta Malik" userId="70451504e3b0265a" providerId="LiveId" clId="{D7D3D390-A727-4E19-A37A-E3FBE0FEA5FB}" dt="2026-04-08T15:24:05.491" v="368" actId="14100"/>
          <ac:graphicFrameMkLst>
            <pc:docMk/>
            <pc:sldMk cId="1465460398" sldId="263"/>
            <ac:graphicFrameMk id="6" creationId="{C81E596A-1F5D-4854-4F04-AB6C3CFC7051}"/>
          </ac:graphicFrameMkLst>
        </pc:graphicFrameChg>
        <pc:picChg chg="mod">
          <ac:chgData name="Samprikta Malik" userId="70451504e3b0265a" providerId="LiveId" clId="{D7D3D390-A727-4E19-A37A-E3FBE0FEA5FB}" dt="2026-04-08T15:24:16.293" v="370" actId="14100"/>
          <ac:picMkLst>
            <pc:docMk/>
            <pc:sldMk cId="1465460398" sldId="263"/>
            <ac:picMk id="3" creationId="{3B71A8B0-303D-37D2-8E3A-FA6D62151EFE}"/>
          </ac:picMkLst>
        </pc:picChg>
      </pc:sldChg>
      <pc:sldChg chg="addSp modSp mod modTransition addAnim delAnim modAnim">
        <pc:chgData name="Samprikta Malik" userId="70451504e3b0265a" providerId="LiveId" clId="{D7D3D390-A727-4E19-A37A-E3FBE0FEA5FB}" dt="2026-04-08T15:41:19.168" v="418" actId="113"/>
        <pc:sldMkLst>
          <pc:docMk/>
          <pc:sldMk cId="3613525747" sldId="264"/>
        </pc:sldMkLst>
        <pc:spChg chg="add mod">
          <ac:chgData name="Samprikta Malik" userId="70451504e3b0265a" providerId="LiveId" clId="{D7D3D390-A727-4E19-A37A-E3FBE0FEA5FB}" dt="2026-04-08T15:36:01.877" v="410" actId="1076"/>
          <ac:spMkLst>
            <pc:docMk/>
            <pc:sldMk cId="3613525747" sldId="264"/>
            <ac:spMk id="4" creationId="{2BDF3432-CCFC-EFA2-D0EE-27ADAA5C9D3A}"/>
          </ac:spMkLst>
        </pc:spChg>
        <pc:spChg chg="mod">
          <ac:chgData name="Samprikta Malik" userId="70451504e3b0265a" providerId="LiveId" clId="{D7D3D390-A727-4E19-A37A-E3FBE0FEA5FB}" dt="2026-04-08T15:34:56.882" v="403" actId="1076"/>
          <ac:spMkLst>
            <pc:docMk/>
            <pc:sldMk cId="3613525747" sldId="264"/>
            <ac:spMk id="5" creationId="{D4A82612-2CFD-8F72-2029-05B068E0DEE6}"/>
          </ac:spMkLst>
        </pc:spChg>
        <pc:spChg chg="mod">
          <ac:chgData name="Samprikta Malik" userId="70451504e3b0265a" providerId="LiveId" clId="{D7D3D390-A727-4E19-A37A-E3FBE0FEA5FB}" dt="2026-04-08T15:40:36.736" v="415" actId="1076"/>
          <ac:spMkLst>
            <pc:docMk/>
            <pc:sldMk cId="3613525747" sldId="264"/>
            <ac:spMk id="8" creationId="{F5448919-2411-F552-F5EF-849C796ECC06}"/>
          </ac:spMkLst>
        </pc:spChg>
        <pc:spChg chg="mod">
          <ac:chgData name="Samprikta Malik" userId="70451504e3b0265a" providerId="LiveId" clId="{D7D3D390-A727-4E19-A37A-E3FBE0FEA5FB}" dt="2026-04-08T15:36:05.781" v="411" actId="1076"/>
          <ac:spMkLst>
            <pc:docMk/>
            <pc:sldMk cId="3613525747" sldId="264"/>
            <ac:spMk id="10" creationId="{4087160E-C5BF-684D-3233-9A81C0963FF2}"/>
          </ac:spMkLst>
        </pc:spChg>
        <pc:spChg chg="mod">
          <ac:chgData name="Samprikta Malik" userId="70451504e3b0265a" providerId="LiveId" clId="{D7D3D390-A727-4E19-A37A-E3FBE0FEA5FB}" dt="2026-04-08T15:41:19.168" v="418" actId="113"/>
          <ac:spMkLst>
            <pc:docMk/>
            <pc:sldMk cId="3613525747" sldId="264"/>
            <ac:spMk id="11" creationId="{772FB0CE-4768-A9B1-27CD-9AA4E8525245}"/>
          </ac:spMkLst>
        </pc:spChg>
        <pc:graphicFrameChg chg="mod">
          <ac:chgData name="Samprikta Malik" userId="70451504e3b0265a" providerId="LiveId" clId="{D7D3D390-A727-4E19-A37A-E3FBE0FEA5FB}" dt="2026-04-08T15:34:51.466" v="402" actId="14100"/>
          <ac:graphicFrameMkLst>
            <pc:docMk/>
            <pc:sldMk cId="3613525747" sldId="264"/>
            <ac:graphicFrameMk id="3" creationId="{CB485066-1A44-4FFB-B4B5-59E585908429}"/>
          </ac:graphicFrameMkLst>
        </pc:graphicFrameChg>
        <pc:graphicFrameChg chg="mod">
          <ac:chgData name="Samprikta Malik" userId="70451504e3b0265a" providerId="LiveId" clId="{D7D3D390-A727-4E19-A37A-E3FBE0FEA5FB}" dt="2026-04-08T15:40:40.095" v="416" actId="14100"/>
          <ac:graphicFrameMkLst>
            <pc:docMk/>
            <pc:sldMk cId="3613525747" sldId="264"/>
            <ac:graphicFrameMk id="6" creationId="{189F241C-854A-B0AC-61AA-71201D364AAB}"/>
          </ac:graphicFrameMkLst>
        </pc:graphicFrameChg>
      </pc:sldChg>
      <pc:sldChg chg="addSp delSp modSp mod modTransition addAnim delAnim modAnim">
        <pc:chgData name="Samprikta Malik" userId="70451504e3b0265a" providerId="LiveId" clId="{D7D3D390-A727-4E19-A37A-E3FBE0FEA5FB}" dt="2026-04-17T06:20:39.285" v="529" actId="1076"/>
        <pc:sldMkLst>
          <pc:docMk/>
          <pc:sldMk cId="2837992440" sldId="265"/>
        </pc:sldMkLst>
        <pc:spChg chg="mod">
          <ac:chgData name="Samprikta Malik" userId="70451504e3b0265a" providerId="LiveId" clId="{D7D3D390-A727-4E19-A37A-E3FBE0FEA5FB}" dt="2026-04-08T15:55:34.526" v="423" actId="2711"/>
          <ac:spMkLst>
            <pc:docMk/>
            <pc:sldMk cId="2837992440" sldId="265"/>
            <ac:spMk id="2" creationId="{8A6B0F22-3A8F-A778-1EAF-7F0357450674}"/>
          </ac:spMkLst>
        </pc:spChg>
        <pc:spChg chg="mod">
          <ac:chgData name="Samprikta Malik" userId="70451504e3b0265a" providerId="LiveId" clId="{D7D3D390-A727-4E19-A37A-E3FBE0FEA5FB}" dt="2026-04-17T06:20:31.335" v="528" actId="20577"/>
          <ac:spMkLst>
            <pc:docMk/>
            <pc:sldMk cId="2837992440" sldId="265"/>
            <ac:spMk id="3" creationId="{DB276674-D127-6C16-0AD4-1214A5518709}"/>
          </ac:spMkLst>
        </pc:spChg>
        <pc:spChg chg="add mod">
          <ac:chgData name="Samprikta Malik" userId="70451504e3b0265a" providerId="LiveId" clId="{D7D3D390-A727-4E19-A37A-E3FBE0FEA5FB}" dt="2026-04-17T06:20:39.285" v="529" actId="1076"/>
          <ac:spMkLst>
            <pc:docMk/>
            <pc:sldMk cId="2837992440" sldId="265"/>
            <ac:spMk id="4" creationId="{812151D8-B60F-0D6F-EE25-E3CB55362DCF}"/>
          </ac:spMkLst>
        </pc:spChg>
      </pc:sldChg>
      <pc:sldChg chg="modSp mod modTransition addAnim delAnim modAnim">
        <pc:chgData name="Samprikta Malik" userId="70451504e3b0265a" providerId="LiveId" clId="{D7D3D390-A727-4E19-A37A-E3FBE0FEA5FB}" dt="2026-04-17T06:43:49.407" v="539" actId="20577"/>
        <pc:sldMkLst>
          <pc:docMk/>
          <pc:sldMk cId="824059651" sldId="266"/>
        </pc:sldMkLst>
        <pc:spChg chg="mod">
          <ac:chgData name="Samprikta Malik" userId="70451504e3b0265a" providerId="LiveId" clId="{D7D3D390-A727-4E19-A37A-E3FBE0FEA5FB}" dt="2026-04-17T06:43:49.407" v="539" actId="20577"/>
          <ac:spMkLst>
            <pc:docMk/>
            <pc:sldMk cId="824059651" sldId="266"/>
            <ac:spMk id="3" creationId="{9D9B22FE-53A4-08D0-3A57-CD49E46B367B}"/>
          </ac:spMkLst>
        </pc:spChg>
      </pc:sldChg>
      <pc:sldChg chg="addSp modSp mod modTransition addAnim delAnim modAnim">
        <pc:chgData name="Samprikta Malik" userId="70451504e3b0265a" providerId="LiveId" clId="{D7D3D390-A727-4E19-A37A-E3FBE0FEA5FB}" dt="2026-04-18T07:19:24.167" v="575" actId="20577"/>
        <pc:sldMkLst>
          <pc:docMk/>
          <pc:sldMk cId="3083970455" sldId="267"/>
        </pc:sldMkLst>
        <pc:spChg chg="mod">
          <ac:chgData name="Samprikta Malik" userId="70451504e3b0265a" providerId="LiveId" clId="{D7D3D390-A727-4E19-A37A-E3FBE0FEA5FB}" dt="2026-03-31T09:25:11.024" v="265" actId="1076"/>
          <ac:spMkLst>
            <pc:docMk/>
            <pc:sldMk cId="3083970455" sldId="267"/>
            <ac:spMk id="2" creationId="{B614AA36-0CFF-F3FF-4A64-D5AFCB6FF908}"/>
          </ac:spMkLst>
        </pc:spChg>
        <pc:spChg chg="mod">
          <ac:chgData name="Samprikta Malik" userId="70451504e3b0265a" providerId="LiveId" clId="{D7D3D390-A727-4E19-A37A-E3FBE0FEA5FB}" dt="2026-04-18T07:19:24.167" v="575" actId="20577"/>
          <ac:spMkLst>
            <pc:docMk/>
            <pc:sldMk cId="3083970455" sldId="267"/>
            <ac:spMk id="3" creationId="{1A241F24-1043-3405-C29F-E04244059A68}"/>
          </ac:spMkLst>
        </pc:spChg>
        <pc:spChg chg="add mod">
          <ac:chgData name="Samprikta Malik" userId="70451504e3b0265a" providerId="LiveId" clId="{D7D3D390-A727-4E19-A37A-E3FBE0FEA5FB}" dt="2026-03-31T06:36:36.455" v="12" actId="14861"/>
          <ac:spMkLst>
            <pc:docMk/>
            <pc:sldMk cId="3083970455" sldId="267"/>
            <ac:spMk id="4" creationId="{C1AF91C8-247B-4299-C3F4-A4B1C6690A14}"/>
          </ac:spMkLst>
        </pc:spChg>
      </pc:sldChg>
      <pc:sldMasterChg chg="modTransition modSldLayout">
        <pc:chgData name="Samprikta Malik" userId="70451504e3b0265a" providerId="LiveId" clId="{D7D3D390-A727-4E19-A37A-E3FBE0FEA5FB}" dt="2026-03-31T09:37:44.798" v="329"/>
        <pc:sldMasterMkLst>
          <pc:docMk/>
          <pc:sldMasterMk cId="1879583367" sldId="2147483762"/>
        </pc:sldMasterMkLst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2119909141" sldId="2147483763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3712735135" sldId="2147483764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3854327700" sldId="2147483765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3445366877" sldId="2147483766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2472359091" sldId="2147483767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3270461758" sldId="2147483768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2476182796" sldId="2147483769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3400719069" sldId="2147483770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1936911672" sldId="2147483771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2910303653" sldId="2147483772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2704552968" sldId="2147483773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2805761184" sldId="2147483774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3283929468" sldId="2147483775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3273426040" sldId="2147483776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2625701543" sldId="2147483777"/>
          </pc:sldLayoutMkLst>
        </pc:sldLayoutChg>
        <pc:sldLayoutChg chg="modTransition">
          <pc:chgData name="Samprikta Malik" userId="70451504e3b0265a" providerId="LiveId" clId="{D7D3D390-A727-4E19-A37A-E3FBE0FEA5FB}" dt="2026-03-31T09:37:44.798" v="329"/>
          <pc:sldLayoutMkLst>
            <pc:docMk/>
            <pc:sldMasterMk cId="1879583367" sldId="2147483762"/>
            <pc:sldLayoutMk cId="4131068928" sldId="2147483778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0451504e3b0265a/Desktop/Metro%20hotel%20%5e0%20restaurent%20data%20(3%20months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0451504e3b0265a/Desktop/Metro%20hotel%20%5e0%20restaurent%20data%20(3%20months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0451504e3b0265a/Desktop/Metro%20hotel%20%5e0%20restaurent%20data%20(3%20months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0451504e3b0265a/Desktop/Metro%20hotel%20%5e0%20restaurent%20data%20(3%20months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0451504e3b0265a/Desktop/Metro%20hotel%20%5e0%20restaurent%20data%20(3%20months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 sz="1400" b="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Comparison (Dec 2025 – Feb 2026)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'[Metro hotel ^0 restaurent data (3 months).xlsx]Daily_sales'!$H$14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'[Metro hotel ^0 restaurent data (3 months).xlsx]Daily_sales'!$G$15:$G$17</c:f>
              <c:numCache>
                <c:formatCode>mmm\-yy</c:formatCode>
                <c:ptCount val="3"/>
                <c:pt idx="0">
                  <c:v>45992</c:v>
                </c:pt>
                <c:pt idx="1">
                  <c:v>46023</c:v>
                </c:pt>
                <c:pt idx="2">
                  <c:v>46054</c:v>
                </c:pt>
              </c:numCache>
            </c:numRef>
          </c:cat>
          <c:val>
            <c:numRef>
              <c:f>'[Metro hotel ^0 restaurent data (3 months).xlsx]Daily_sales'!$H$15:$H$17</c:f>
              <c:numCache>
                <c:formatCode>General</c:formatCode>
                <c:ptCount val="3"/>
                <c:pt idx="0">
                  <c:v>458105</c:v>
                </c:pt>
                <c:pt idx="1">
                  <c:v>484520</c:v>
                </c:pt>
                <c:pt idx="2">
                  <c:v>410390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39-4600-AE86-23EE1A8453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29018847"/>
        <c:axId val="1829019807"/>
      </c:barChart>
      <c:dateAx>
        <c:axId val="18290188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829019807"/>
        <c:crosses val="autoZero"/>
        <c:auto val="1"/>
        <c:lblOffset val="100"/>
        <c:baseTimeUnit val="months"/>
      </c:dateAx>
      <c:valAx>
        <c:axId val="1829019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200" b="0" i="0" u="none" strike="noStrike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Revenue (₹)</a:t>
                </a:r>
                <a:endParaRPr lang="en-IN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829018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[Metro hotel ^0 restaurent data (3 months).xlsx]Bussiest day!PivotTable4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 sz="1400" b="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Day-wise Revenue Distribution </a:t>
            </a:r>
            <a:r>
              <a:rPr lang="en-I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(Dec 2025 – Feb 2026)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'Bussiest day'!$B$3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'Bussiest day'!$A$4:$A$11</c:f>
              <c:strCache>
                <c:ptCount val="7"/>
                <c:pt idx="0">
                  <c:v>Wednesday</c:v>
                </c:pt>
                <c:pt idx="1">
                  <c:v>Thursday</c:v>
                </c:pt>
                <c:pt idx="2">
                  <c:v>Friday</c:v>
                </c:pt>
                <c:pt idx="3">
                  <c:v>Monday</c:v>
                </c:pt>
                <c:pt idx="4">
                  <c:v>Tuesday</c:v>
                </c:pt>
                <c:pt idx="5">
                  <c:v>Sunday</c:v>
                </c:pt>
                <c:pt idx="6">
                  <c:v>Saturday</c:v>
                </c:pt>
              </c:strCache>
            </c:strRef>
          </c:cat>
          <c:val>
            <c:numRef>
              <c:f>'Bussiest day'!$B$4:$B$11</c:f>
              <c:numCache>
                <c:formatCode>General</c:formatCode>
                <c:ptCount val="7"/>
                <c:pt idx="0">
                  <c:v>266170</c:v>
                </c:pt>
                <c:pt idx="1">
                  <c:v>210005</c:v>
                </c:pt>
                <c:pt idx="2">
                  <c:v>190275</c:v>
                </c:pt>
                <c:pt idx="3">
                  <c:v>189235</c:v>
                </c:pt>
                <c:pt idx="4">
                  <c:v>180910</c:v>
                </c:pt>
                <c:pt idx="5">
                  <c:v>159630</c:v>
                </c:pt>
                <c:pt idx="6">
                  <c:v>156790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A1-45D8-A6CA-8EC6B735A5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14619871"/>
        <c:axId val="1914618911"/>
      </c:barChart>
      <c:catAx>
        <c:axId val="19146198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200" b="0" i="0" u="none" strike="noStrike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Day of the Week</a:t>
                </a:r>
                <a:endParaRPr lang="en-IN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914618911"/>
        <c:crosses val="autoZero"/>
        <c:auto val="1"/>
        <c:lblAlgn val="ctr"/>
        <c:lblOffset val="100"/>
        <c:noMultiLvlLbl val="0"/>
      </c:catAx>
      <c:valAx>
        <c:axId val="191461891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200" b="0" i="0" u="none" strike="noStrike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Revenue (₹)</a:t>
                </a:r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91461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 sz="1400" b="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Pareto Analysis of Item-wise Revenue Contribution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'[Metro hotel ^0 restaurent data (3 months).xlsx]Pareto Analysis of Item-wise Re'!$E$3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'[Metro hotel ^0 restaurent data (3 months).xlsx]Pareto Analysis of Item-wise Re'!$D$4:$D$30</c:f>
              <c:strCache>
                <c:ptCount val="27"/>
                <c:pt idx="0">
                  <c:v>Veg Rice</c:v>
                </c:pt>
                <c:pt idx="1">
                  <c:v>Mix Chowmin</c:v>
                </c:pt>
                <c:pt idx="2">
                  <c:v>Chicken Biriyani</c:v>
                </c:pt>
                <c:pt idx="3">
                  <c:v>Mix Rice</c:v>
                </c:pt>
                <c:pt idx="4">
                  <c:v>Chilli Chicken</c:v>
                </c:pt>
                <c:pt idx="5">
                  <c:v>Chicken Kosa</c:v>
                </c:pt>
                <c:pt idx="6">
                  <c:v>Paneer Chilli</c:v>
                </c:pt>
                <c:pt idx="7">
                  <c:v>Mutton Biriyani</c:v>
                </c:pt>
                <c:pt idx="8">
                  <c:v>Chicken Chap</c:v>
                </c:pt>
                <c:pt idx="9">
                  <c:v>Chicken Chowmin</c:v>
                </c:pt>
                <c:pt idx="10">
                  <c:v>Egg Roll</c:v>
                </c:pt>
                <c:pt idx="11">
                  <c:v>Mutton Kosa</c:v>
                </c:pt>
                <c:pt idx="12">
                  <c:v>Panner Butter Mashala</c:v>
                </c:pt>
                <c:pt idx="13">
                  <c:v>Panner Roll</c:v>
                </c:pt>
                <c:pt idx="14">
                  <c:v>Egg Chowmin</c:v>
                </c:pt>
                <c:pt idx="15">
                  <c:v>Veg Chowmin</c:v>
                </c:pt>
                <c:pt idx="16">
                  <c:v>Chicken Roll</c:v>
                </c:pt>
                <c:pt idx="17">
                  <c:v>Alu Biriyani</c:v>
                </c:pt>
                <c:pt idx="18">
                  <c:v>Egg Biriyani</c:v>
                </c:pt>
                <c:pt idx="19">
                  <c:v>Egg Chicken Roll</c:v>
                </c:pt>
                <c:pt idx="20">
                  <c:v>Chiken Butter Mashala</c:v>
                </c:pt>
                <c:pt idx="21">
                  <c:v>Panner Do Payaja</c:v>
                </c:pt>
                <c:pt idx="22">
                  <c:v>Chicken Pakoda</c:v>
                </c:pt>
                <c:pt idx="23">
                  <c:v>Chiken Korma</c:v>
                </c:pt>
                <c:pt idx="24">
                  <c:v>Sweet &amp; Sour Chicken</c:v>
                </c:pt>
                <c:pt idx="25">
                  <c:v>Chicken Cutlet</c:v>
                </c:pt>
                <c:pt idx="26">
                  <c:v>Ginger Garlic Chicken</c:v>
                </c:pt>
              </c:strCache>
            </c:strRef>
          </c:cat>
          <c:val>
            <c:numRef>
              <c:f>'[Metro hotel ^0 restaurent data (3 months).xlsx]Pareto Analysis of Item-wise Re'!$E$4:$E$30</c:f>
              <c:numCache>
                <c:formatCode>General</c:formatCode>
                <c:ptCount val="27"/>
                <c:pt idx="0">
                  <c:v>255500</c:v>
                </c:pt>
                <c:pt idx="1">
                  <c:v>135900</c:v>
                </c:pt>
                <c:pt idx="2">
                  <c:v>135720</c:v>
                </c:pt>
                <c:pt idx="3">
                  <c:v>97860</c:v>
                </c:pt>
                <c:pt idx="4">
                  <c:v>85820</c:v>
                </c:pt>
                <c:pt idx="5">
                  <c:v>80470</c:v>
                </c:pt>
                <c:pt idx="6">
                  <c:v>58500</c:v>
                </c:pt>
                <c:pt idx="7">
                  <c:v>52000</c:v>
                </c:pt>
                <c:pt idx="8">
                  <c:v>45430</c:v>
                </c:pt>
                <c:pt idx="9">
                  <c:v>43670</c:v>
                </c:pt>
                <c:pt idx="10">
                  <c:v>38535</c:v>
                </c:pt>
                <c:pt idx="11">
                  <c:v>38000</c:v>
                </c:pt>
                <c:pt idx="12">
                  <c:v>31320</c:v>
                </c:pt>
                <c:pt idx="13">
                  <c:v>28960</c:v>
                </c:pt>
                <c:pt idx="14">
                  <c:v>27300</c:v>
                </c:pt>
                <c:pt idx="15">
                  <c:v>24750</c:v>
                </c:pt>
                <c:pt idx="16">
                  <c:v>20900</c:v>
                </c:pt>
                <c:pt idx="17">
                  <c:v>20440</c:v>
                </c:pt>
                <c:pt idx="18">
                  <c:v>18560</c:v>
                </c:pt>
                <c:pt idx="19">
                  <c:v>18460</c:v>
                </c:pt>
                <c:pt idx="20">
                  <c:v>17640</c:v>
                </c:pt>
                <c:pt idx="21">
                  <c:v>17640</c:v>
                </c:pt>
                <c:pt idx="22">
                  <c:v>16560</c:v>
                </c:pt>
                <c:pt idx="23">
                  <c:v>14280</c:v>
                </c:pt>
                <c:pt idx="24">
                  <c:v>10980</c:v>
                </c:pt>
                <c:pt idx="25">
                  <c:v>10080</c:v>
                </c:pt>
                <c:pt idx="26">
                  <c:v>7740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72-4FF1-B737-38BC7D9E34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4062479"/>
        <c:axId val="264063919"/>
      </c:barChart>
      <c:lineChart>
        <c:grouping val="standard"/>
        <c:varyColors val="0"/>
        <c:ser>
          <c:idx val="1"/>
          <c:order val="1"/>
          <c:tx>
            <c:strRef>
              <c:f>'[Metro hotel ^0 restaurent data (3 months).xlsx]Pareto Analysis of Item-wise Re'!$H$3</c:f>
              <c:strCache>
                <c:ptCount val="1"/>
                <c:pt idx="0">
                  <c:v>Cumulative %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'[Metro hotel ^0 restaurent data (3 months).xlsx]Pareto Analysis of Item-wise Re'!$D$4:$D$30</c:f>
              <c:strCache>
                <c:ptCount val="27"/>
                <c:pt idx="0">
                  <c:v>Veg Rice</c:v>
                </c:pt>
                <c:pt idx="1">
                  <c:v>Mix Chowmin</c:v>
                </c:pt>
                <c:pt idx="2">
                  <c:v>Chicken Biriyani</c:v>
                </c:pt>
                <c:pt idx="3">
                  <c:v>Mix Rice</c:v>
                </c:pt>
                <c:pt idx="4">
                  <c:v>Chilli Chicken</c:v>
                </c:pt>
                <c:pt idx="5">
                  <c:v>Chicken Kosa</c:v>
                </c:pt>
                <c:pt idx="6">
                  <c:v>Paneer Chilli</c:v>
                </c:pt>
                <c:pt idx="7">
                  <c:v>Mutton Biriyani</c:v>
                </c:pt>
                <c:pt idx="8">
                  <c:v>Chicken Chap</c:v>
                </c:pt>
                <c:pt idx="9">
                  <c:v>Chicken Chowmin</c:v>
                </c:pt>
                <c:pt idx="10">
                  <c:v>Egg Roll</c:v>
                </c:pt>
                <c:pt idx="11">
                  <c:v>Mutton Kosa</c:v>
                </c:pt>
                <c:pt idx="12">
                  <c:v>Panner Butter Mashala</c:v>
                </c:pt>
                <c:pt idx="13">
                  <c:v>Panner Roll</c:v>
                </c:pt>
                <c:pt idx="14">
                  <c:v>Egg Chowmin</c:v>
                </c:pt>
                <c:pt idx="15">
                  <c:v>Veg Chowmin</c:v>
                </c:pt>
                <c:pt idx="16">
                  <c:v>Chicken Roll</c:v>
                </c:pt>
                <c:pt idx="17">
                  <c:v>Alu Biriyani</c:v>
                </c:pt>
                <c:pt idx="18">
                  <c:v>Egg Biriyani</c:v>
                </c:pt>
                <c:pt idx="19">
                  <c:v>Egg Chicken Roll</c:v>
                </c:pt>
                <c:pt idx="20">
                  <c:v>Chiken Butter Mashala</c:v>
                </c:pt>
                <c:pt idx="21">
                  <c:v>Panner Do Payaja</c:v>
                </c:pt>
                <c:pt idx="22">
                  <c:v>Chicken Pakoda</c:v>
                </c:pt>
                <c:pt idx="23">
                  <c:v>Chiken Korma</c:v>
                </c:pt>
                <c:pt idx="24">
                  <c:v>Sweet &amp; Sour Chicken</c:v>
                </c:pt>
                <c:pt idx="25">
                  <c:v>Chicken Cutlet</c:v>
                </c:pt>
                <c:pt idx="26">
                  <c:v>Ginger Garlic Chicken</c:v>
                </c:pt>
              </c:strCache>
            </c:strRef>
          </c:cat>
          <c:val>
            <c:numRef>
              <c:f>'[Metro hotel ^0 restaurent data (3 months).xlsx]Pareto Analysis of Item-wise Re'!$H$4:$H$30</c:f>
              <c:numCache>
                <c:formatCode>0.00</c:formatCode>
                <c:ptCount val="27"/>
                <c:pt idx="0">
                  <c:v>0.18883752212651006</c:v>
                </c:pt>
                <c:pt idx="1">
                  <c:v>0.28927986755505297</c:v>
                </c:pt>
                <c:pt idx="2">
                  <c:v>0.38958917676448523</c:v>
                </c:pt>
                <c:pt idx="3">
                  <c:v>0.4619165345543102</c:v>
                </c:pt>
                <c:pt idx="4">
                  <c:v>0.52534524746584477</c:v>
                </c:pt>
                <c:pt idx="5">
                  <c:v>0.58481982830936829</c:v>
                </c:pt>
                <c:pt idx="6">
                  <c:v>0.62805659952033055</c:v>
                </c:pt>
                <c:pt idx="7">
                  <c:v>0.66648928504118576</c:v>
                </c:pt>
                <c:pt idx="8">
                  <c:v>0.70006614856450222</c:v>
                </c:pt>
                <c:pt idx="9">
                  <c:v>0.73234221350095896</c:v>
                </c:pt>
                <c:pt idx="10">
                  <c:v>0.76082305074223122</c:v>
                </c:pt>
                <c:pt idx="11">
                  <c:v>0.78890847477670245</c:v>
                </c:pt>
                <c:pt idx="12">
                  <c:v>0.81205677690195599</c:v>
                </c:pt>
                <c:pt idx="13">
                  <c:v>0.83346082637664776</c:v>
                </c:pt>
                <c:pt idx="14">
                  <c:v>0.85363798627509668</c:v>
                </c:pt>
                <c:pt idx="15">
                  <c:v>0.87193046640281147</c:v>
                </c:pt>
                <c:pt idx="16">
                  <c:v>0.88737744962177068</c:v>
                </c:pt>
                <c:pt idx="17">
                  <c:v>0.90248445139189148</c:v>
                </c:pt>
                <c:pt idx="18">
                  <c:v>0.91620196376241214</c:v>
                </c:pt>
                <c:pt idx="19">
                  <c:v>0.9298455671223157</c:v>
                </c:pt>
                <c:pt idx="20">
                  <c:v>0.94288311659515966</c:v>
                </c:pt>
                <c:pt idx="21">
                  <c:v>0.95592066606800363</c:v>
                </c:pt>
                <c:pt idx="22">
                  <c:v>0.9681599982261837</c:v>
                </c:pt>
                <c:pt idx="23">
                  <c:v>0.97871420494229555</c:v>
                </c:pt>
                <c:pt idx="24">
                  <c:v>0.98682941430804538</c:v>
                </c:pt>
                <c:pt idx="25">
                  <c:v>0.99427944257824197</c:v>
                </c:pt>
                <c:pt idx="2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72-4FF1-B737-38BC7D9E34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4066319"/>
        <c:axId val="264064399"/>
      </c:lineChart>
      <c:catAx>
        <c:axId val="2640624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000" b="0" i="0" u="none" strike="noStrike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Name</a:t>
                </a:r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64063919"/>
        <c:crosses val="autoZero"/>
        <c:auto val="1"/>
        <c:lblAlgn val="ctr"/>
        <c:lblOffset val="100"/>
        <c:noMultiLvlLbl val="0"/>
      </c:catAx>
      <c:valAx>
        <c:axId val="26406391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100" b="0" i="0" u="none" strike="noStrike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Revenue (₹)</a:t>
                </a:r>
                <a:endParaRPr lang="en-IN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64062479"/>
        <c:crosses val="autoZero"/>
        <c:crossBetween val="between"/>
      </c:valAx>
      <c:valAx>
        <c:axId val="264064399"/>
        <c:scaling>
          <c:orientation val="minMax"/>
          <c:max val="1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100" b="0" i="0" u="none" strike="noStrike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Cumulative Percentage (%)</a:t>
                </a:r>
                <a:endParaRPr lang="en-IN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4066319"/>
        <c:crosses val="max"/>
        <c:crossBetween val="between"/>
      </c:valAx>
      <c:catAx>
        <c:axId val="2640663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640643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 algn="just"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[Metro hotel ^0 restaurent data (3 months).xlsx]Category-wise Revenue Compariso!PivotTable29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 sz="1400" b="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Revenue Comparison (3 Months Combined)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'Category-wise Revenue Compariso'!$B$3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'Category-wise Revenue Compariso'!$A$4:$A$12</c:f>
              <c:strCache>
                <c:ptCount val="8"/>
                <c:pt idx="0">
                  <c:v>Rice</c:v>
                </c:pt>
                <c:pt idx="1">
                  <c:v>Chicken</c:v>
                </c:pt>
                <c:pt idx="2">
                  <c:v>Noodles</c:v>
                </c:pt>
                <c:pt idx="3">
                  <c:v>Biriyani</c:v>
                </c:pt>
                <c:pt idx="4">
                  <c:v>Veg</c:v>
                </c:pt>
                <c:pt idx="5">
                  <c:v>Roll</c:v>
                </c:pt>
                <c:pt idx="6">
                  <c:v>Mutton</c:v>
                </c:pt>
                <c:pt idx="7">
                  <c:v>Starters</c:v>
                </c:pt>
              </c:strCache>
            </c:strRef>
          </c:cat>
          <c:val>
            <c:numRef>
              <c:f>'Category-wise Revenue Compariso'!$B$4:$B$12</c:f>
              <c:numCache>
                <c:formatCode>General</c:formatCode>
                <c:ptCount val="8"/>
                <c:pt idx="0">
                  <c:v>353360</c:v>
                </c:pt>
                <c:pt idx="1">
                  <c:v>262360</c:v>
                </c:pt>
                <c:pt idx="2">
                  <c:v>231620</c:v>
                </c:pt>
                <c:pt idx="3">
                  <c:v>226720</c:v>
                </c:pt>
                <c:pt idx="4">
                  <c:v>107460</c:v>
                </c:pt>
                <c:pt idx="5">
                  <c:v>106855</c:v>
                </c:pt>
                <c:pt idx="6">
                  <c:v>38000</c:v>
                </c:pt>
                <c:pt idx="7">
                  <c:v>26640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71-4E18-98AF-8CCD51AD710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4899183"/>
        <c:axId val="324909263"/>
      </c:barChart>
      <c:catAx>
        <c:axId val="3248991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050" b="0" i="0" u="none" strike="noStrike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 Category</a:t>
                </a:r>
                <a:endParaRPr lang="en-IN" sz="105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24909263"/>
        <c:crosses val="autoZero"/>
        <c:auto val="1"/>
        <c:lblAlgn val="ctr"/>
        <c:lblOffset val="100"/>
        <c:noMultiLvlLbl val="0"/>
      </c:catAx>
      <c:valAx>
        <c:axId val="32490926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050" b="0" i="0" u="none" strike="noStrike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Revenue (₹)</a:t>
                </a:r>
                <a:endParaRPr lang="en-IN" sz="105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24899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 sz="1400" b="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Quantity Sold Comparison (3 Months Combined)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'[Metro hotel ^0 restaurent data (3 months).xlsx]Category-wise Revenue Compariso'!$E$4:$E$11</c:f>
              <c:strCache>
                <c:ptCount val="8"/>
                <c:pt idx="0">
                  <c:v>Rice</c:v>
                </c:pt>
                <c:pt idx="1">
                  <c:v>Chicken</c:v>
                </c:pt>
                <c:pt idx="2">
                  <c:v>Roll</c:v>
                </c:pt>
                <c:pt idx="3">
                  <c:v>Biriyani</c:v>
                </c:pt>
                <c:pt idx="4">
                  <c:v>Noodles</c:v>
                </c:pt>
                <c:pt idx="5">
                  <c:v>Veg</c:v>
                </c:pt>
                <c:pt idx="6">
                  <c:v>Starters</c:v>
                </c:pt>
                <c:pt idx="7">
                  <c:v>Mutton</c:v>
                </c:pt>
              </c:strCache>
            </c:strRef>
          </c:cat>
          <c:val>
            <c:numRef>
              <c:f>'[Metro hotel ^0 restaurent data (3 months).xlsx]Category-wise Revenue Compariso'!$G$4:$G$11</c:f>
              <c:numCache>
                <c:formatCode>General</c:formatCode>
                <c:ptCount val="8"/>
                <c:pt idx="0">
                  <c:v>3254</c:v>
                </c:pt>
                <c:pt idx="1">
                  <c:v>2167</c:v>
                </c:pt>
                <c:pt idx="2">
                  <c:v>2127</c:v>
                </c:pt>
                <c:pt idx="3">
                  <c:v>1863</c:v>
                </c:pt>
                <c:pt idx="4">
                  <c:v>1851</c:v>
                </c:pt>
                <c:pt idx="5">
                  <c:v>722</c:v>
                </c:pt>
                <c:pt idx="6">
                  <c:v>250</c:v>
                </c:pt>
                <c:pt idx="7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16-45B4-857F-56D3CECACD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67874223"/>
        <c:axId val="1967880943"/>
      </c:barChart>
      <c:catAx>
        <c:axId val="19678742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050" b="0" i="0" u="none" strike="noStrike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 Category</a:t>
                </a:r>
                <a:endParaRPr lang="en-IN" sz="105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967880943"/>
        <c:crosses val="autoZero"/>
        <c:auto val="1"/>
        <c:lblAlgn val="ctr"/>
        <c:lblOffset val="100"/>
        <c:noMultiLvlLbl val="0"/>
      </c:catAx>
      <c:valAx>
        <c:axId val="196788094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050" b="0" i="0" u="none" strike="noStrike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Quantity Sold (Units)</a:t>
                </a:r>
                <a:endParaRPr lang="en-IN" sz="105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9678742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90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73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327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36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35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46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18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71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91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30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455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76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392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42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70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06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1EB3A-9191-412F-B10C-BF9300D83F4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995C87-7957-4769-8E3D-D9E05718C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8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6E993-F001-7354-CC0D-5B6E36613AE8}"/>
              </a:ext>
            </a:extLst>
          </p:cNvPr>
          <p:cNvSpPr txBox="1"/>
          <p:nvPr/>
        </p:nvSpPr>
        <p:spPr>
          <a:xfrm>
            <a:off x="304799" y="268342"/>
            <a:ext cx="11228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Business Data Management Study of Customer Demand and Operational Challenges at </a:t>
            </a:r>
            <a:r>
              <a:rPr lang="en-I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 Hotel and Restaurant, Singur</a:t>
            </a:r>
            <a:endParaRPr lang="en-IN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771762-1BBF-9151-A144-66847B82584F}"/>
              </a:ext>
            </a:extLst>
          </p:cNvPr>
          <p:cNvSpPr txBox="1"/>
          <p:nvPr/>
        </p:nvSpPr>
        <p:spPr>
          <a:xfrm>
            <a:off x="1933132" y="2824201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BDM Capstone Project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158A2A-C08D-A9CE-F07A-7A73A0E5B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931" y="1956619"/>
            <a:ext cx="2705780" cy="2658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261FFE-9365-336A-B6FC-9B42625131F4}"/>
              </a:ext>
            </a:extLst>
          </p:cNvPr>
          <p:cNvSpPr txBox="1"/>
          <p:nvPr/>
        </p:nvSpPr>
        <p:spPr>
          <a:xfrm>
            <a:off x="8322351" y="5860938"/>
            <a:ext cx="3466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Institute of Technology Madras</a:t>
            </a:r>
          </a:p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Chennai,600036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A67E33-9ED8-8125-62EE-3AB921F73464}"/>
              </a:ext>
            </a:extLst>
          </p:cNvPr>
          <p:cNvSpPr txBox="1"/>
          <p:nvPr/>
        </p:nvSpPr>
        <p:spPr>
          <a:xfrm>
            <a:off x="549578" y="4571867"/>
            <a:ext cx="3971023" cy="1289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SAMPRIKTA MALIK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number: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21F3002038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21f3002038@ds.study.iitm.ac.in</a:t>
            </a:r>
          </a:p>
        </p:txBody>
      </p:sp>
    </p:spTree>
    <p:extLst>
      <p:ext uri="{BB962C8B-B14F-4D97-AF65-F5344CB8AC3E}">
        <p14:creationId xmlns:p14="http://schemas.microsoft.com/office/powerpoint/2010/main" val="8408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/>
      <p:bldP spid="10" grpId="0" build="allAtOnce"/>
      <p:bldP spid="11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158F-9757-992E-11F9-619E5F7DF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22" y="394541"/>
            <a:ext cx="2203518" cy="78658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53EE5-C821-4D07-0C96-14CD7244E8EA}"/>
              </a:ext>
            </a:extLst>
          </p:cNvPr>
          <p:cNvSpPr txBox="1"/>
          <p:nvPr/>
        </p:nvSpPr>
        <p:spPr>
          <a:xfrm>
            <a:off x="1079466" y="1234780"/>
            <a:ext cx="3611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35CED-9925-DBD1-D8BC-EF4797FA37BE}"/>
              </a:ext>
            </a:extLst>
          </p:cNvPr>
          <p:cNvSpPr txBox="1"/>
          <p:nvPr/>
        </p:nvSpPr>
        <p:spPr>
          <a:xfrm>
            <a:off x="894735" y="23105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FCD9A-5EE2-283B-FF28-C89735748FAB}"/>
              </a:ext>
            </a:extLst>
          </p:cNvPr>
          <p:cNvSpPr txBox="1"/>
          <p:nvPr/>
        </p:nvSpPr>
        <p:spPr>
          <a:xfrm>
            <a:off x="333941" y="1771972"/>
            <a:ext cx="58800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 Hotel &amp; Restaurant, Singur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Family-run restaurant in Singur, Hooghly, West Bengal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in 1997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 B2C (Business-to-Consumer)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dine-in and takeaway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affordable food (rice dishes, biriyani,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with 6–8 staff managing daily activities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EFED28-3107-36B9-5270-D9F70C6688D2}"/>
              </a:ext>
            </a:extLst>
          </p:cNvPr>
          <p:cNvSpPr txBox="1"/>
          <p:nvPr/>
        </p:nvSpPr>
        <p:spPr>
          <a:xfrm>
            <a:off x="1226949" y="3994037"/>
            <a:ext cx="2513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847D1C-5379-0733-0234-4144C31ED168}"/>
              </a:ext>
            </a:extLst>
          </p:cNvPr>
          <p:cNvSpPr txBox="1"/>
          <p:nvPr/>
        </p:nvSpPr>
        <p:spPr>
          <a:xfrm>
            <a:off x="333941" y="4606119"/>
            <a:ext cx="45791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identifying high-revenue items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Unclear peak sales days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Uneven contribution across categories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understanding of customer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better revenue-focused decisions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6DCD90-B20B-6704-682A-05DBD321C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231" y="0"/>
            <a:ext cx="3303600" cy="39159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5105BD-5461-B5D9-F06F-AEB849260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8525" y="3726425"/>
            <a:ext cx="2553052" cy="32367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25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 uiExpand="1" build="allAtOnce"/>
      <p:bldP spid="13" grpId="0"/>
      <p:bldP spid="14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EAB7C-1D19-C5AA-C89B-F9E9E2FA9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47" y="304801"/>
            <a:ext cx="6500214" cy="82591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Objectives, Data &amp;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D41CD1-29F5-C808-A5E9-FD5A512C3670}"/>
              </a:ext>
            </a:extLst>
          </p:cNvPr>
          <p:cNvSpPr txBox="1"/>
          <p:nvPr/>
        </p:nvSpPr>
        <p:spPr>
          <a:xfrm>
            <a:off x="2083347" y="1240530"/>
            <a:ext cx="1568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F295E-A143-A7DF-6932-B85A4551C4E2}"/>
              </a:ext>
            </a:extLst>
          </p:cNvPr>
          <p:cNvSpPr txBox="1"/>
          <p:nvPr/>
        </p:nvSpPr>
        <p:spPr>
          <a:xfrm>
            <a:off x="609600" y="1676162"/>
            <a:ext cx="4423006" cy="1289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high-revenue items and categories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trends &amp; peak demand days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business decisions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28AF5-CE6C-FF49-6AC8-CC3602F90F48}"/>
              </a:ext>
            </a:extLst>
          </p:cNvPr>
          <p:cNvSpPr txBox="1"/>
          <p:nvPr/>
        </p:nvSpPr>
        <p:spPr>
          <a:xfrm>
            <a:off x="7079224" y="2570276"/>
            <a:ext cx="1423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B2C5F-5DFF-2F15-1D40-F0437B3CD8D4}"/>
              </a:ext>
            </a:extLst>
          </p:cNvPr>
          <p:cNvSpPr txBox="1"/>
          <p:nvPr/>
        </p:nvSpPr>
        <p:spPr>
          <a:xfrm>
            <a:off x="6096000" y="3088476"/>
            <a:ext cx="4326826" cy="17045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sales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 2025 – Feb 2026 (3 months)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Item-level &amp; daily sales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13176-5251-C0E9-60DE-8465406EC3D6}"/>
              </a:ext>
            </a:extLst>
          </p:cNvPr>
          <p:cNvSpPr txBox="1"/>
          <p:nvPr/>
        </p:nvSpPr>
        <p:spPr>
          <a:xfrm>
            <a:off x="1537875" y="3853246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BEBF0C-B059-4377-AA61-C500BA6B9D6D}"/>
              </a:ext>
            </a:extLst>
          </p:cNvPr>
          <p:cNvSpPr txBox="1"/>
          <p:nvPr/>
        </p:nvSpPr>
        <p:spPr>
          <a:xfrm>
            <a:off x="910333" y="4324400"/>
            <a:ext cx="5304657" cy="2120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Cleaned missing and inconsistent data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Standardized item names and categories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pivot tables for day-wise and category analysis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Ranked items based on total revenue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Applied Pareto analysis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allAtOnce"/>
      <p:bldP spid="6" grpId="0"/>
      <p:bldP spid="7" grpId="0" build="allAtOnce"/>
      <p:bldP spid="8" grpId="0"/>
      <p:bldP spid="9" grpId="0" uiExpand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E4F2-91F2-FC02-6E19-77E2CE71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08" y="245806"/>
            <a:ext cx="4278124" cy="73741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71656C8-D565-AECD-C7E9-6343E9C692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7175800"/>
              </p:ext>
            </p:extLst>
          </p:nvPr>
        </p:nvGraphicFramePr>
        <p:xfrm>
          <a:off x="303708" y="1205925"/>
          <a:ext cx="6882828" cy="4044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9F3591-D931-229A-88AD-1512F4239529}"/>
              </a:ext>
            </a:extLst>
          </p:cNvPr>
          <p:cNvSpPr txBox="1"/>
          <p:nvPr/>
        </p:nvSpPr>
        <p:spPr>
          <a:xfrm>
            <a:off x="176980" y="5420376"/>
            <a:ext cx="6771968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b="1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1: Monthly Revenue Comparison (December–February)</a:t>
            </a:r>
            <a:endParaRPr lang="en-IN" sz="1100" i="1" kern="100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AEB41-874B-D105-61E7-1CAD52BDC145}"/>
              </a:ext>
            </a:extLst>
          </p:cNvPr>
          <p:cNvSpPr txBox="1"/>
          <p:nvPr/>
        </p:nvSpPr>
        <p:spPr>
          <a:xfrm>
            <a:off x="8186217" y="1894743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6114E-C593-3D9C-0FE5-5413C0C92718}"/>
              </a:ext>
            </a:extLst>
          </p:cNvPr>
          <p:cNvSpPr txBox="1"/>
          <p:nvPr/>
        </p:nvSpPr>
        <p:spPr>
          <a:xfrm>
            <a:off x="7285702" y="3961977"/>
            <a:ext cx="4267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peak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Dec–Jan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(festive impact)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shows post-festive stability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F4EAC-058A-F52C-76EB-81C1A792A988}"/>
              </a:ext>
            </a:extLst>
          </p:cNvPr>
          <p:cNvSpPr txBox="1"/>
          <p:nvPr/>
        </p:nvSpPr>
        <p:spPr>
          <a:xfrm>
            <a:off x="7785244" y="2896023"/>
            <a:ext cx="29931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December: ₹4,58,105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January: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₹4,84,520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(Highest)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February: ₹4,10,390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71799-C678-466E-A23C-4E6C00E37964}"/>
              </a:ext>
            </a:extLst>
          </p:cNvPr>
          <p:cNvSpPr txBox="1"/>
          <p:nvPr/>
        </p:nvSpPr>
        <p:spPr>
          <a:xfrm>
            <a:off x="7186536" y="2513416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revenue is approximately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₹13.53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lakh.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56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3" grpId="0">
        <p:bldAsOne/>
      </p:bldGraphic>
      <p:bldP spid="5" grpId="0"/>
      <p:bldP spid="6" grpId="0"/>
      <p:bldP spid="7" grpId="0"/>
      <p:bldP spid="4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0C9A-2151-9B09-0A15-554C38200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18" y="285135"/>
            <a:ext cx="5084369" cy="668594"/>
          </a:xfrm>
        </p:spPr>
        <p:txBody>
          <a:bodyPr/>
          <a:lstStyle/>
          <a:p>
            <a:r>
              <a:rPr lang="en-IN" dirty="0"/>
              <a:t>Day-wise Sales Analysis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6AEC3ED-0622-AB21-5650-C417E727BB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3059032"/>
              </p:ext>
            </p:extLst>
          </p:nvPr>
        </p:nvGraphicFramePr>
        <p:xfrm>
          <a:off x="460273" y="1238741"/>
          <a:ext cx="7012243" cy="4060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E26B816-1167-67B6-7439-3759229FDA4D}"/>
              </a:ext>
            </a:extLst>
          </p:cNvPr>
          <p:cNvSpPr txBox="1"/>
          <p:nvPr/>
        </p:nvSpPr>
        <p:spPr>
          <a:xfrm>
            <a:off x="732810" y="5352900"/>
            <a:ext cx="6663813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2: Day-wise Revenue Distribution (3 Months Combined)</a:t>
            </a:r>
            <a:endParaRPr lang="en-IN" sz="1100" i="1" kern="100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FE019-DB37-0A0A-C361-4740E18F1F6E}"/>
              </a:ext>
            </a:extLst>
          </p:cNvPr>
          <p:cNvSpPr txBox="1"/>
          <p:nvPr/>
        </p:nvSpPr>
        <p:spPr>
          <a:xfrm>
            <a:off x="8412224" y="2502086"/>
            <a:ext cx="1401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64161-502F-0CCE-329D-DFD1A4C872D7}"/>
              </a:ext>
            </a:extLst>
          </p:cNvPr>
          <p:cNvSpPr txBox="1"/>
          <p:nvPr/>
        </p:nvSpPr>
        <p:spPr>
          <a:xfrm>
            <a:off x="7561006" y="4036330"/>
            <a:ext cx="4506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highest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Mid-week demand stronger than weekends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E7DB7-74B8-92DE-CB3E-31E416CF77A5}"/>
              </a:ext>
            </a:extLst>
          </p:cNvPr>
          <p:cNvSpPr txBox="1"/>
          <p:nvPr/>
        </p:nvSpPr>
        <p:spPr>
          <a:xfrm>
            <a:off x="7968180" y="3105834"/>
            <a:ext cx="2567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 contributes ~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revenue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37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3" grpId="0">
        <p:bldAsOne/>
      </p:bldGraphic>
      <p:bldP spid="5" grpId="0"/>
      <p:bldP spid="9" grpId="0"/>
      <p:bldP spid="10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3BA0-DEB4-D935-7967-A60471140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85" y="226142"/>
            <a:ext cx="5556318" cy="67842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Item-wise &amp; Pareto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71A8B0-303D-37D2-8E3A-FA6D62151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81"/>
          <a:stretch>
            <a:fillRect/>
          </a:stretch>
        </p:blipFill>
        <p:spPr>
          <a:xfrm>
            <a:off x="364490" y="933450"/>
            <a:ext cx="5731510" cy="3530395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841B2D-B239-54CE-4700-13C0C7A9F9C1}"/>
              </a:ext>
            </a:extLst>
          </p:cNvPr>
          <p:cNvSpPr txBox="1"/>
          <p:nvPr/>
        </p:nvSpPr>
        <p:spPr>
          <a:xfrm>
            <a:off x="205385" y="4510194"/>
            <a:ext cx="5011994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3: Item-wise Revenue Contribution</a:t>
            </a:r>
            <a:endParaRPr lang="en-IN" sz="1100" i="1" kern="100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81E596A-1F5D-4854-4F04-AB6C3CFC70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232659"/>
              </p:ext>
            </p:extLst>
          </p:nvPr>
        </p:nvGraphicFramePr>
        <p:xfrm>
          <a:off x="6096000" y="216310"/>
          <a:ext cx="6019800" cy="3904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2E93E19-241B-9349-7C49-4D08B9D80CC1}"/>
              </a:ext>
            </a:extLst>
          </p:cNvPr>
          <p:cNvSpPr txBox="1"/>
          <p:nvPr/>
        </p:nvSpPr>
        <p:spPr>
          <a:xfrm>
            <a:off x="6531077" y="4154036"/>
            <a:ext cx="5365955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4: Pareto Analysis of Item-wise Revenue</a:t>
            </a:r>
            <a:endParaRPr lang="en-IN" sz="1100" i="1" kern="100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197248-93D4-8839-24CD-5C4E3A2D5D1D}"/>
              </a:ext>
            </a:extLst>
          </p:cNvPr>
          <p:cNvSpPr txBox="1"/>
          <p:nvPr/>
        </p:nvSpPr>
        <p:spPr>
          <a:xfrm>
            <a:off x="364490" y="5019940"/>
            <a:ext cx="1385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5FF56-9B7D-B46C-4B53-E7EFB64760E5}"/>
              </a:ext>
            </a:extLst>
          </p:cNvPr>
          <p:cNvSpPr txBox="1"/>
          <p:nvPr/>
        </p:nvSpPr>
        <p:spPr>
          <a:xfrm>
            <a:off x="864076" y="5924550"/>
            <a:ext cx="5667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items contribute majority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 Rice , Mix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Chicken Biriyani lead sales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F69053-1596-4522-6990-1DCEFDB90010}"/>
              </a:ext>
            </a:extLst>
          </p:cNvPr>
          <p:cNvSpPr txBox="1"/>
          <p:nvPr/>
        </p:nvSpPr>
        <p:spPr>
          <a:xfrm>
            <a:off x="2554106" y="5300666"/>
            <a:ext cx="655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items contribute around 80% of total revenue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46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Graphic spid="6" grpId="0">
        <p:bldAsOne/>
      </p:bldGraphic>
      <p:bldP spid="8" grpId="0"/>
      <p:bldP spid="10" grpId="0"/>
      <p:bldP spid="11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12FE-720F-1BAA-49AD-33A77AFC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11" y="275304"/>
            <a:ext cx="5418666" cy="79641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Performance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B485066-1A44-4FFB-B4B5-59E5859084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2243406"/>
              </p:ext>
            </p:extLst>
          </p:nvPr>
        </p:nvGraphicFramePr>
        <p:xfrm>
          <a:off x="274211" y="1071717"/>
          <a:ext cx="5615312" cy="3323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A82612-2CFD-8F72-2029-05B068E0DEE6}"/>
              </a:ext>
            </a:extLst>
          </p:cNvPr>
          <p:cNvSpPr txBox="1"/>
          <p:nvPr/>
        </p:nvSpPr>
        <p:spPr>
          <a:xfrm>
            <a:off x="109275" y="4395019"/>
            <a:ext cx="4649539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IN" sz="1600" b="1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5: Category-wise Revenue Comparison </a:t>
            </a:r>
          </a:p>
          <a:p>
            <a:pPr algn="ctr">
              <a:spcAft>
                <a:spcPts val="1000"/>
              </a:spcAft>
              <a:buNone/>
            </a:pPr>
            <a:r>
              <a:rPr lang="en-IN" sz="1600" b="1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(3 Months Combined)</a:t>
            </a:r>
            <a:endParaRPr lang="en-IN" sz="1050" i="1" kern="100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89F241C-854A-B0AC-61AA-71201D364A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2434741"/>
              </p:ext>
            </p:extLst>
          </p:nvPr>
        </p:nvGraphicFramePr>
        <p:xfrm>
          <a:off x="6054459" y="235553"/>
          <a:ext cx="5945183" cy="3451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5448919-2411-F552-F5EF-849C796ECC06}"/>
              </a:ext>
            </a:extLst>
          </p:cNvPr>
          <p:cNvSpPr txBox="1"/>
          <p:nvPr/>
        </p:nvSpPr>
        <p:spPr>
          <a:xfrm>
            <a:off x="6583733" y="4038511"/>
            <a:ext cx="4886633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IN" sz="1600" b="1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6: Category-wise Quantity Sold Comparison </a:t>
            </a:r>
          </a:p>
          <a:p>
            <a:pPr algn="ctr">
              <a:spcAft>
                <a:spcPts val="1000"/>
              </a:spcAft>
              <a:buNone/>
            </a:pPr>
            <a:r>
              <a:rPr lang="en-IN" sz="1600" b="1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(3 Months Combined)</a:t>
            </a:r>
            <a:endParaRPr lang="en-IN" sz="1050" i="1" kern="100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7160E-C5BF-684D-3233-9A81C0963FF2}"/>
              </a:ext>
            </a:extLst>
          </p:cNvPr>
          <p:cNvSpPr txBox="1"/>
          <p:nvPr/>
        </p:nvSpPr>
        <p:spPr>
          <a:xfrm>
            <a:off x="2380212" y="5561659"/>
            <a:ext cx="14033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2FB0CE-4768-A9B1-27CD-9AA4E8525245}"/>
              </a:ext>
            </a:extLst>
          </p:cNvPr>
          <p:cNvSpPr txBox="1"/>
          <p:nvPr/>
        </p:nvSpPr>
        <p:spPr>
          <a:xfrm>
            <a:off x="6819193" y="5509282"/>
            <a:ext cx="3743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Rice &amp; Chicken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dominate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Starters &amp; Mutton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underperform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F3432-CCFC-EFA2-D0EE-27ADAA5C9D3A}"/>
              </a:ext>
            </a:extLst>
          </p:cNvPr>
          <p:cNvSpPr txBox="1"/>
          <p:nvPr/>
        </p:nvSpPr>
        <p:spPr>
          <a:xfrm>
            <a:off x="4510232" y="5509281"/>
            <a:ext cx="1725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Rice: ~ 26%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Chicken: ~ 19%</a:t>
            </a:r>
          </a:p>
        </p:txBody>
      </p:sp>
    </p:spTree>
    <p:extLst>
      <p:ext uri="{BB962C8B-B14F-4D97-AF65-F5344CB8AC3E}">
        <p14:creationId xmlns:p14="http://schemas.microsoft.com/office/powerpoint/2010/main" val="361352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3" grpId="0">
        <p:bldAsOne/>
      </p:bldGraphic>
      <p:bldP spid="5" grpId="0"/>
      <p:bldGraphic spid="6" grpId="0">
        <p:bldAsOne/>
      </p:bldGraphic>
      <p:bldP spid="8" grpId="0"/>
      <p:bldP spid="10" grpId="0"/>
      <p:bldP spid="11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0F22-3A8F-A778-1EAF-7F035745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40" y="324464"/>
            <a:ext cx="5920112" cy="69809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Revenue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76674-D127-6C16-0AD4-1214A5518709}"/>
              </a:ext>
            </a:extLst>
          </p:cNvPr>
          <p:cNvSpPr txBox="1"/>
          <p:nvPr/>
        </p:nvSpPr>
        <p:spPr>
          <a:xfrm>
            <a:off x="643218" y="1443841"/>
            <a:ext cx="791094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peaked in January (~₹4.84 lakh) due to festive/New Year demand 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Wednesday shows highest revenue → indicates strong mid-week demand pattern 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~48% of items contribute ~80% of total revenue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→ shows concentration of revenue in fewer items (Pareto effect) 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Rice and Chicken categories dominate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→ reflects customer preference and high demand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151D8-B60F-0D6F-EE25-E3CB55362DCF}"/>
              </a:ext>
            </a:extLst>
          </p:cNvPr>
          <p:cNvSpPr txBox="1"/>
          <p:nvPr/>
        </p:nvSpPr>
        <p:spPr>
          <a:xfrm>
            <a:off x="3998873" y="4474885"/>
            <a:ext cx="4469557" cy="17045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Drivers: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Quantity Driven         |       Price Driven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demand             |         High price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 Rice (30 units)     | Mutton Biryani (₹250)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99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5E30-C6E9-01B3-83A2-3E6FF2A4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876" y="294968"/>
            <a:ext cx="3688189" cy="70792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9B22FE-53A4-08D0-3A57-CD49E46B367B}"/>
              </a:ext>
            </a:extLst>
          </p:cNvPr>
          <p:cNvSpPr txBox="1"/>
          <p:nvPr/>
        </p:nvSpPr>
        <p:spPr>
          <a:xfrm>
            <a:off x="934065" y="1465006"/>
            <a:ext cx="839249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Focus on high-performing items (Veg Rice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Mix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Chowmin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Chicken Biryani)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Maintain stock for Rice &amp; Chicken categories (high demand)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Increase staff/preparation on Wednesdays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pricing strategy for high-value items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Introduce promotions during non-peak periods (Feb slowdown)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05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AA36-0CFF-F3FF-4A64-D5AFCB6F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7" y="324465"/>
            <a:ext cx="2331337" cy="75708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41F24-1043-3405-C29F-E04244059A68}"/>
              </a:ext>
            </a:extLst>
          </p:cNvPr>
          <p:cNvSpPr txBox="1"/>
          <p:nvPr/>
        </p:nvSpPr>
        <p:spPr>
          <a:xfrm>
            <a:off x="875071" y="1612492"/>
            <a:ext cx="840005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analysis of 3 months shows clear demand patterns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Sales are influenced by seasonal trends and mid-week peaks (Wednesday)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is concentrated in a few high-performing items and categories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is driven by quantity sold (demand)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Data-driven insights help improve decision-making and business performance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91C8-247B-4299-C3F4-A4B1C6690A14}"/>
              </a:ext>
            </a:extLst>
          </p:cNvPr>
          <p:cNvSpPr txBox="1"/>
          <p:nvPr/>
        </p:nvSpPr>
        <p:spPr>
          <a:xfrm>
            <a:off x="9822426" y="5712542"/>
            <a:ext cx="1535485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8397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allAtOnce"/>
      <p:bldP spid="4" grpId="0"/>
    </p:bldLst>
  </p:timing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782</TotalTime>
  <Words>678</Words>
  <Application>Microsoft Office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Overview</vt:lpstr>
      <vt:lpstr>Objectives, Data &amp; Methodology</vt:lpstr>
      <vt:lpstr>Monthly Sales Trend</vt:lpstr>
      <vt:lpstr>Day-wise Sales Analysis</vt:lpstr>
      <vt:lpstr>Item-wise &amp; Pareto Analysis</vt:lpstr>
      <vt:lpstr>Category-wise Performance</vt:lpstr>
      <vt:lpstr>Key Insights &amp; Revenue Drivers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Samprikta Malik</dc:creator>
  <cp:lastModifiedBy>Samprikta Malik</cp:lastModifiedBy>
  <cp:revision>1</cp:revision>
  <dcterms:created xsi:type="dcterms:W3CDTF">2026-03-30T15:24:35Z</dcterms:created>
  <dcterms:modified xsi:type="dcterms:W3CDTF">2026-04-18T07:19:29Z</dcterms:modified>
</cp:coreProperties>
</file>